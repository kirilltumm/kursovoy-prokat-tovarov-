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6" r:id="rId20"/>
    <p:sldId id="275" r:id="rId21"/>
    <p:sldId id="277" r:id="rId22"/>
    <p:sldId id="278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51EC9B11-6492-4B3D-B21E-A3152390969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Раздел без заголовка" id="{29B7051D-BECB-484C-AB83-51D23E101ADD}">
          <p14:sldIdLst>
            <p14:sldId id="274"/>
            <p14:sldId id="276"/>
            <p14:sldId id="275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B6E3-75C9-4743-9E12-B2222B2CB05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CAC98-B946-4E4E-8E71-57F2F5FEB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722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B6E3-75C9-4743-9E12-B2222B2CB05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CAC98-B946-4E4E-8E71-57F2F5FEB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633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B6E3-75C9-4743-9E12-B2222B2CB05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CAC98-B946-4E4E-8E71-57F2F5FEB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52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B6E3-75C9-4743-9E12-B2222B2CB05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CAC98-B946-4E4E-8E71-57F2F5FEB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3537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B6E3-75C9-4743-9E12-B2222B2CB05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CAC98-B946-4E4E-8E71-57F2F5FEB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24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B6E3-75C9-4743-9E12-B2222B2CB05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CAC98-B946-4E4E-8E71-57F2F5FEB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73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B6E3-75C9-4743-9E12-B2222B2CB05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CAC98-B946-4E4E-8E71-57F2F5FEB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740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B6E3-75C9-4743-9E12-B2222B2CB05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CAC98-B946-4E4E-8E71-57F2F5FEB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241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B6E3-75C9-4743-9E12-B2222B2CB05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CAC98-B946-4E4E-8E71-57F2F5FEB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305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B6E3-75C9-4743-9E12-B2222B2CB05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CAC98-B946-4E4E-8E71-57F2F5FEB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136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B6E3-75C9-4743-9E12-B2222B2CB05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CAC98-B946-4E4E-8E71-57F2F5FEB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042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4B6E3-75C9-4743-9E12-B2222B2CB05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CAC98-B946-4E4E-8E71-57F2F5FEB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479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  <p:sldLayoutId id="2147484043" r:id="rId3"/>
    <p:sldLayoutId id="2147484044" r:id="rId4"/>
    <p:sldLayoutId id="2147484045" r:id="rId5"/>
    <p:sldLayoutId id="2147484046" r:id="rId6"/>
    <p:sldLayoutId id="2147484047" r:id="rId7"/>
    <p:sldLayoutId id="2147484048" r:id="rId8"/>
    <p:sldLayoutId id="2147484049" r:id="rId9"/>
    <p:sldLayoutId id="2147484050" r:id="rId10"/>
    <p:sldLayoutId id="21474840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31049" y="444763"/>
            <a:ext cx="9906782" cy="1169377"/>
          </a:xfrm>
        </p:spPr>
        <p:txBody>
          <a:bodyPr>
            <a:noAutofit/>
          </a:bodyPr>
          <a:lstStyle/>
          <a:p>
            <a:pPr algn="ctr"/>
            <a:r>
              <a:rPr lang="ru-RU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АВТОНОМНОЕ ПРОФЕССИОНАЛЬНОЕ ОБРАЗОВАТЕЛЬНОЕ </a:t>
            </a:r>
            <a:br>
              <a:rPr lang="ru-RU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  ТЮМЕНСКОЙ ОБЛАСТИ </a:t>
            </a:r>
            <a:br>
              <a:rPr lang="ru-RU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«ТЮМЕНСКИЙ ТЕХНИКУМ СТРОИТЕЛЬНОЙ ИНДУСТРИИ И ГОРОДСКОГО ХОЗЯЙСТВА»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905374" y="6122496"/>
            <a:ext cx="2358133" cy="573579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г. Тюмень, 2026 г.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036440" y="263082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«Проектирование ИС </a:t>
            </a: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”Прокат товаров”»</a:t>
            </a: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837714" y="4020415"/>
            <a:ext cx="4106636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kern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</a:t>
            </a:r>
            <a:r>
              <a:rPr lang="ru-RU" kern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Туманов К.И., </a:t>
            </a:r>
            <a:endParaRPr lang="ru-RU" kern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kern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</a:t>
            </a:r>
            <a:r>
              <a:rPr lang="ru-RU" kern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RU" kern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курса очной формы обучения,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kern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ИСиП </a:t>
            </a:r>
            <a:r>
              <a:rPr lang="ru-RU" kern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25-11-1</a:t>
            </a:r>
            <a:endParaRPr lang="ru-RU" kern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kern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</a:t>
            </a:r>
            <a:r>
              <a:rPr lang="en-US" altLang="en-US" kern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Гончарова</a:t>
            </a:r>
            <a:r>
              <a:rPr lang="en-US" altLang="en-US" kern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Т.В</a:t>
            </a:r>
            <a:r>
              <a:rPr lang="ru-RU" kern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должность: преподаватель проф. дисциплин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454985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22575" y="333376"/>
            <a:ext cx="6546850" cy="125730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предметной области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60400" y="1723241"/>
            <a:ext cx="10871200" cy="4653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 область</a:t>
            </a:r>
            <a:r>
              <a:rPr lang="ru-RU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деятельность пункта проката товаров: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спортивный инвентарь,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строительное оборудование,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электроника,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туристическое снаряжение.</a:t>
            </a:r>
          </a:p>
          <a:p>
            <a:pPr>
              <a:lnSpc>
                <a:spcPct val="150000"/>
              </a:lnSpc>
            </a:pPr>
            <a:r>
              <a:rPr lang="ru-RU" sz="200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процесс – оформление аренды: от выбора товара до возврата и оплаты.</a:t>
            </a:r>
          </a:p>
          <a:p>
            <a:pPr>
              <a:lnSpc>
                <a:spcPct val="150000"/>
              </a:lnSpc>
            </a:pPr>
            <a:r>
              <a:rPr lang="ru-RU" sz="200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Участники: клиент, менеджер, юрист, платёжная система.</a:t>
            </a:r>
          </a:p>
          <a:p>
            <a:pPr>
              <a:lnSpc>
                <a:spcPct val="150000"/>
              </a:lnSpc>
            </a:pPr>
            <a:r>
              <a:rPr lang="ru-RU" sz="200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сущности: товар</a:t>
            </a:r>
            <a:r>
              <a:rPr lang="ru-RU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клиент, договор аренды, заявка, платёж.</a:t>
            </a:r>
          </a:p>
          <a:p>
            <a:pPr>
              <a:lnSpc>
                <a:spcPct val="150000"/>
              </a:lnSpc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83240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33850" y="308429"/>
            <a:ext cx="3552825" cy="1325563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</a:t>
            </a:r>
            <a:endParaRPr lang="ru-RU" sz="20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506662"/>
            <a:ext cx="8334829" cy="2660424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Ручной учёт (бумажные журналы,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ошибки, дублирование.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Невозможность быстро проверить наличие и статус товара.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Долгое оформление заявки и расчёт стоимости.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 просрочек и неконтролируемых штрафов.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 централизованной отчётности.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96540765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2950" y="269875"/>
            <a:ext cx="1061085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курсового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0575" y="1881867"/>
            <a:ext cx="10515600" cy="4112532"/>
          </a:xfrm>
        </p:spPr>
        <p:txBody>
          <a:bodyPr>
            <a:no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ИС для автоматизации проката товаров и разработать оптимизированную реляционную базу данных.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функциональные модели (IDEF0, DFD).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UML-диаграммы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концептуальную, логическую и физическую модели БД.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эскизный проект интерфейса (прототипы).</a:t>
            </a:r>
          </a:p>
        </p:txBody>
      </p:sp>
    </p:spTree>
    <p:extLst>
      <p:ext uri="{BB962C8B-B14F-4D97-AF65-F5344CB8AC3E}">
        <p14:creationId xmlns:p14="http://schemas.microsoft.com/office/powerpoint/2010/main" val="1697149831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36711" y="231775"/>
            <a:ext cx="8610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 –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</a:t>
            </a:r>
          </a:p>
        </p:txBody>
      </p:sp>
      <p:pic>
        <p:nvPicPr>
          <p:cNvPr id="4" name="Рисунок 3" descr="Черный ящик прокат товаров.drawio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1" t="2270" r="2554" b="2765"/>
          <a:stretch/>
        </p:blipFill>
        <p:spPr bwMode="auto">
          <a:xfrm>
            <a:off x="3238499" y="1651000"/>
            <a:ext cx="5359401" cy="391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9180668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1238" y="212725"/>
            <a:ext cx="9174164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 –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idef0 Прокат товаров Туманов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398" y="1538288"/>
            <a:ext cx="7099843" cy="4486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0829553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56073" y="409575"/>
            <a:ext cx="3811589" cy="105251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3007" t="4119" r="2732" b="3469"/>
          <a:stretch/>
        </p:blipFill>
        <p:spPr>
          <a:xfrm>
            <a:off x="2543175" y="1714500"/>
            <a:ext cx="70580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763330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38451" y="400050"/>
            <a:ext cx="7419974" cy="1052513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Декомпозиция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1420" t="2403" r="565" b="796"/>
          <a:stretch/>
        </p:blipFill>
        <p:spPr>
          <a:xfrm>
            <a:off x="2466974" y="1819275"/>
            <a:ext cx="709612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20491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9794" y="428625"/>
            <a:ext cx="7648575" cy="1052513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Диаграмма вариантов использования (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026" name="Picture 2" descr="Диаграмма вариантов прокат товаров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745" y="1943100"/>
            <a:ext cx="6464043" cy="408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884745" y="1943100"/>
            <a:ext cx="6464044" cy="4081463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0029267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2594" y="363173"/>
            <a:ext cx="9244806" cy="105251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 (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Activity)</a:t>
            </a:r>
          </a:p>
        </p:txBody>
      </p:sp>
      <p:pic>
        <p:nvPicPr>
          <p:cNvPr id="5" name="Рисунок 4" descr="https://raw.githubusercontent.com/kirilltumm/kursovoy-Prokat-Tovarov-/refs/heads/main/%D0%94%D0%B8%D0%B0%D0%B3%D1%80%D0%B0%D0%BC%D0%BC%D0%B0%20%D0%B4%D0%B5%D1%8F%D1%82%D0%B5%D0%BB%D1%8C%D0%BD%D0%BE%D1%81%D1%82%D0%B8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" t="884" r="361" b="511"/>
          <a:stretch/>
        </p:blipFill>
        <p:spPr bwMode="auto">
          <a:xfrm>
            <a:off x="3048000" y="1509713"/>
            <a:ext cx="6219825" cy="4605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1193686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9309" y="512643"/>
            <a:ext cx="9244806" cy="105251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последовательности (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Sequence)</a:t>
            </a:r>
          </a:p>
        </p:txBody>
      </p:sp>
      <p:pic>
        <p:nvPicPr>
          <p:cNvPr id="6" name="Рисунок 5" descr="Диаграмма последовательности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885" y="2099799"/>
            <a:ext cx="5231130" cy="43992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Прямоугольник 6"/>
          <p:cNvSpPr/>
          <p:nvPr/>
        </p:nvSpPr>
        <p:spPr>
          <a:xfrm>
            <a:off x="3647885" y="2099799"/>
            <a:ext cx="5231130" cy="4399280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489012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9309" y="512643"/>
            <a:ext cx="9244806" cy="105251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последовательности (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Sequence)</a:t>
            </a:r>
          </a:p>
        </p:txBody>
      </p:sp>
      <p:pic>
        <p:nvPicPr>
          <p:cNvPr id="6" name="Рисунок 5" descr="Диаграмма последовательности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885" y="2099799"/>
            <a:ext cx="5231130" cy="43992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Прямоугольник 6"/>
          <p:cNvSpPr/>
          <p:nvPr/>
        </p:nvSpPr>
        <p:spPr>
          <a:xfrm>
            <a:off x="3647886" y="2099800"/>
            <a:ext cx="5231130" cy="4399280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095891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18359" y="372341"/>
            <a:ext cx="9244806" cy="105251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 (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Class)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372902" y="2302508"/>
            <a:ext cx="5856605" cy="3272155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Диаграмма классов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901" y="2302508"/>
            <a:ext cx="5856605" cy="32721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2634064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18359" y="372341"/>
            <a:ext cx="9068716" cy="1052513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Концептуальная модель данных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708063" y="1871660"/>
            <a:ext cx="4650125" cy="4176713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0" name="Picture 2" descr="ER Концептуальная Прокат Товаров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063" y="1871660"/>
            <a:ext cx="4650125" cy="417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2942709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98161" y="452437"/>
            <a:ext cx="6211216" cy="1052513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модель данных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289566" y="1918957"/>
            <a:ext cx="3866506" cy="4238621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Логическая Прокат Товаров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566" y="1918957"/>
            <a:ext cx="3866505" cy="42386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709672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93386" y="557212"/>
            <a:ext cx="7103114" cy="1090613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модель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404547" y="2190419"/>
            <a:ext cx="5940425" cy="3733800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3404548" y="2190418"/>
            <a:ext cx="594042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86289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23203" y="492587"/>
            <a:ext cx="7103114" cy="1090613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Физическая модель –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SQL-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запроса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1051720" y="3460289"/>
            <a:ext cx="5020310" cy="657225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3"/>
          <a:stretch>
            <a:fillRect/>
          </a:stretch>
        </p:blipFill>
        <p:spPr>
          <a:xfrm>
            <a:off x="6599237" y="4460559"/>
            <a:ext cx="4975225" cy="1824990"/>
          </a:xfrm>
          <a:prstGeom prst="rect">
            <a:avLst/>
          </a:prstGeom>
        </p:spPr>
      </p:pic>
      <p:sp>
        <p:nvSpPr>
          <p:cNvPr id="10" name="Заголовок 1"/>
          <p:cNvSpPr txBox="1">
            <a:spLocks/>
          </p:cNvSpPr>
          <p:nvPr/>
        </p:nvSpPr>
        <p:spPr>
          <a:xfrm>
            <a:off x="3766660" y="1713548"/>
            <a:ext cx="4972370" cy="676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нового клиента в БД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6602092" y="3788901"/>
            <a:ext cx="4972370" cy="676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946470" y="2784013"/>
            <a:ext cx="4972370" cy="676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169364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 txBox="1">
            <a:spLocks/>
          </p:cNvSpPr>
          <p:nvPr/>
        </p:nvSpPr>
        <p:spPr>
          <a:xfrm>
            <a:off x="3766660" y="1713548"/>
            <a:ext cx="4972370" cy="676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6602092" y="3788901"/>
            <a:ext cx="4972370" cy="676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/>
          <p:cNvPicPr/>
          <p:nvPr/>
        </p:nvPicPr>
        <p:blipFill>
          <a:blip r:embed="rId2"/>
          <a:stretch>
            <a:fillRect/>
          </a:stretch>
        </p:blipFill>
        <p:spPr>
          <a:xfrm>
            <a:off x="517569" y="2584798"/>
            <a:ext cx="5573026" cy="2703021"/>
          </a:xfrm>
          <a:prstGeom prst="rect">
            <a:avLst/>
          </a:prstGeom>
        </p:spPr>
      </p:pic>
      <p:pic>
        <p:nvPicPr>
          <p:cNvPr id="14" name="Рисунок 13"/>
          <p:cNvPicPr/>
          <p:nvPr/>
        </p:nvPicPr>
        <p:blipFill>
          <a:blip r:embed="rId3"/>
          <a:stretch>
            <a:fillRect/>
          </a:stretch>
        </p:blipFill>
        <p:spPr>
          <a:xfrm>
            <a:off x="6261094" y="2695749"/>
            <a:ext cx="5658485" cy="2592070"/>
          </a:xfrm>
          <a:prstGeom prst="rect">
            <a:avLst/>
          </a:prstGeom>
        </p:spPr>
      </p:pic>
      <p:sp>
        <p:nvSpPr>
          <p:cNvPr id="18" name="Заголовок 1"/>
          <p:cNvSpPr txBox="1">
            <a:spLocks/>
          </p:cNvSpPr>
          <p:nvPr/>
        </p:nvSpPr>
        <p:spPr>
          <a:xfrm>
            <a:off x="2539038" y="1327800"/>
            <a:ext cx="7103114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870241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 txBox="1">
            <a:spLocks/>
          </p:cNvSpPr>
          <p:nvPr/>
        </p:nvSpPr>
        <p:spPr>
          <a:xfrm>
            <a:off x="3766660" y="1713548"/>
            <a:ext cx="4972370" cy="676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6602092" y="3788901"/>
            <a:ext cx="4972370" cy="676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-165578" y="1168241"/>
            <a:ext cx="7103114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Вход в ЛК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519113" y="2051686"/>
            <a:ext cx="5733732" cy="2822863"/>
          </a:xfrm>
          <a:prstGeom prst="rect">
            <a:avLst/>
          </a:prstGeom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5568154" y="1185595"/>
            <a:ext cx="7103114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3"/>
          <a:stretch>
            <a:fillRect/>
          </a:stretch>
        </p:blipFill>
        <p:spPr>
          <a:xfrm>
            <a:off x="6397307" y="2051686"/>
            <a:ext cx="5666740" cy="262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73630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66520" y="622935"/>
            <a:ext cx="7103114" cy="1090613"/>
          </a:xfrm>
        </p:spPr>
        <p:txBody>
          <a:bodyPr>
            <a:noAutofit/>
          </a:bodyPr>
          <a:lstStyle/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заказа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3766660" y="1713548"/>
            <a:ext cx="4972370" cy="676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6602092" y="3788901"/>
            <a:ext cx="4972370" cy="676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Рисунок 16"/>
          <p:cNvPicPr/>
          <p:nvPr/>
        </p:nvPicPr>
        <p:blipFill>
          <a:blip r:embed="rId2"/>
          <a:stretch>
            <a:fillRect/>
          </a:stretch>
        </p:blipFill>
        <p:spPr>
          <a:xfrm>
            <a:off x="2736056" y="1941714"/>
            <a:ext cx="7033578" cy="369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587887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39363" y="314471"/>
            <a:ext cx="7103114" cy="1090613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3766660" y="1713548"/>
            <a:ext cx="4972370" cy="676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6602092" y="3788901"/>
            <a:ext cx="4972370" cy="676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4849" y="1328885"/>
            <a:ext cx="991235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работы: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Спроектирована ИС «Прокат товаров» с полным циклом аренды.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реляционная БД (</a:t>
            </a:r>
            <a:r>
              <a:rPr lang="ru-RU" sz="2400" b="0" i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MySQL) с 5 таблицами, запросами, ограничениями.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Построены функциональные и UML-диаграммы.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эскизный проект интерфейса (</a:t>
            </a:r>
            <a:r>
              <a:rPr lang="ru-RU" sz="2400" b="0" i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прототипы).</a:t>
            </a:r>
          </a:p>
          <a:p>
            <a:r>
              <a:rPr lang="ru-RU" sz="2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Эффект от внедрения:</a:t>
            </a:r>
            <a:endParaRPr lang="ru-RU" sz="2400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Сокращение времени оформления заявки на 40–50%.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Исключение ошибок ручного учёта.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Прозрачность статусов товаров и аренд.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Автоматическая отчётность.</a:t>
            </a:r>
          </a:p>
          <a:p>
            <a:r>
              <a:rPr lang="ru-RU" sz="2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развития:</a:t>
            </a: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приложение, SMS-уведомления о возврате, интеграция с онлайн-оплатой.</a:t>
            </a:r>
            <a:endParaRPr lang="ru-RU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391555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44113" y="2698288"/>
            <a:ext cx="7103114" cy="1090613"/>
          </a:xfrm>
        </p:spPr>
        <p:txBody>
          <a:bodyPr>
            <a:noAutofit/>
          </a:bodyPr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3766660" y="1713548"/>
            <a:ext cx="4972370" cy="676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6602092" y="3788901"/>
            <a:ext cx="4972370" cy="676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378270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Другая 17">
      <a:dk1>
        <a:sysClr val="windowText" lastClr="000000"/>
      </a:dk1>
      <a:lt1>
        <a:srgbClr val="E7E6E6"/>
      </a:lt1>
      <a:dk2>
        <a:srgbClr val="44546A"/>
      </a:dk2>
      <a:lt2>
        <a:srgbClr val="F2E8D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404</Words>
  <Application>Microsoft Office PowerPoint</Application>
  <PresentationFormat>Широкоэкранный</PresentationFormat>
  <Paragraphs>64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Тема Office</vt:lpstr>
      <vt:lpstr>ГОСУДАРСТВЕННОЕ АВТОНОМНОЕ ПРОФЕССИОНАЛЬНОЕ ОБРАЗОВАТЕЛЬНОЕ  УЧРЕЖДЕНИЕ  ТЮМЕНСКОЙ ОБЛАСТИ  «ТЮМЕНСКИЙ ТЕХНИКУМ СТРОИТЕЛЬНОЙ ИНДУСТРИИ И ГОРОДСКОГО ХОЗЯЙСТВА»</vt:lpstr>
      <vt:lpstr>Описание предметной области</vt:lpstr>
      <vt:lpstr>Проблематика</vt:lpstr>
      <vt:lpstr>Цель и задачи курсового проекта</vt:lpstr>
      <vt:lpstr>Диаграмма IDEF0 – Контекст</vt:lpstr>
      <vt:lpstr>Диаграмма IDEF0 – Декомпозиция</vt:lpstr>
      <vt:lpstr>Диаграмма DFD</vt:lpstr>
      <vt:lpstr>Диаграмма DFD - Декомпозиция</vt:lpstr>
      <vt:lpstr>UML Диаграмма вариантов использования (Use Case)</vt:lpstr>
      <vt:lpstr>UML Диаграмма деятельности (Activity)</vt:lpstr>
      <vt:lpstr>UML Диаграмма последовательности (Sequence)</vt:lpstr>
      <vt:lpstr>UML Диаграмма последовательности (Sequence)</vt:lpstr>
      <vt:lpstr>UML Диаграмма классов (Class)</vt:lpstr>
      <vt:lpstr>Концептуальная модель данных</vt:lpstr>
      <vt:lpstr>Логическая модель данных</vt:lpstr>
      <vt:lpstr>Физическая модель данных </vt:lpstr>
      <vt:lpstr> Физическая модель – пример SQL-запроса</vt:lpstr>
      <vt:lpstr>Презентация PowerPoint</vt:lpstr>
      <vt:lpstr>Презентация PowerPoint</vt:lpstr>
      <vt:lpstr>Оформление заказа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ДЕПАРТАМЕНТ ОБРАЗОВАНИЯ И НАУКИ ТЮМЕНСКОЙ ОБЛАСТИ Государственное автономное профессиональное учреждение Тюменской области «ТЮМЕНСКИЙ ТЕХНИКУМ СТРОИТЕЛЬНОЙ ИНДУСТРИИ И ГОРОДСКОГО ХОЗЯЙСТВА» </dc:title>
  <dc:creator>Student</dc:creator>
  <cp:lastModifiedBy>Student</cp:lastModifiedBy>
  <cp:revision>33</cp:revision>
  <dcterms:created xsi:type="dcterms:W3CDTF">2026-05-13T09:54:49Z</dcterms:created>
  <dcterms:modified xsi:type="dcterms:W3CDTF">2026-05-13T11:59:19Z</dcterms:modified>
</cp:coreProperties>
</file>